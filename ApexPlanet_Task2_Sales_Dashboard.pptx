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Category-wise Total Sales (₹)</c:v>
                </c:pt>
              </c:strCache>
            </c:strRef>
          </c:tx>
          <c:spPr>
            <a:solidFill>
              <a:srgbClr val="14304F"/>
            </a:solidFill>
            <a:effectLst/>
          </c:spPr>
          <c:invertIfNegative val="0"/>
          <c:dLbls>
            <c:numFmt formatCode="&quot;₹&quot;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50778581.700000003</c:v>
                </c:pt>
                <c:pt idx="1">
                  <c:v>25031689.399999999</c:v>
                </c:pt>
                <c:pt idx="2">
                  <c:v>22231711.280000001</c:v>
                </c:pt>
                <c:pt idx="3">
                  <c:v>21521561.48</c:v>
                </c:pt>
                <c:pt idx="4">
                  <c:v>19835895.789999999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B8-40C2-AEAD-0557A35C01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4996584.57600000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City-wise Order Count</c:v>
                </c:pt>
              </c:strCache>
            </c:strRef>
          </c:tx>
          <c:spPr>
            <a:solidFill>
              <a:srgbClr val="1430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Patna</c:v>
                </c:pt>
                <c:pt idx="1">
                  <c:v>Kolkata</c:v>
                </c:pt>
                <c:pt idx="2">
                  <c:v>Mumbai</c:v>
                </c:pt>
                <c:pt idx="3">
                  <c:v>Hyderabad</c:v>
                </c:pt>
                <c:pt idx="4">
                  <c:v>Delhi</c:v>
                </c:pt>
                <c:pt idx="5">
                  <c:v>Bengaluru</c:v>
                </c:pt>
                <c:pt idx="6">
                  <c:v>Gaya</c:v>
                </c:pt>
                <c:pt idx="7">
                  <c:v>Pune</c:v>
                </c:pt>
                <c:pt idx="8">
                  <c:v>Unknown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135</c:v>
                </c:pt>
                <c:pt idx="1">
                  <c:v>133</c:v>
                </c:pt>
                <c:pt idx="2">
                  <c:v>131</c:v>
                </c:pt>
                <c:pt idx="3">
                  <c:v>125</c:v>
                </c:pt>
                <c:pt idx="4">
                  <c:v>125</c:v>
                </c:pt>
                <c:pt idx="5">
                  <c:v>122</c:v>
                </c:pt>
                <c:pt idx="6">
                  <c:v>117</c:v>
                </c:pt>
                <c:pt idx="7">
                  <c:v>99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05-4438-B473-DE112090BD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9.2999999999999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Product-wise Order Count</c:v>
                </c:pt>
              </c:strCache>
            </c:strRef>
          </c:tx>
          <c:spPr>
            <a:solidFill>
              <a:srgbClr val="1430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Mobile</c:v>
                </c:pt>
                <c:pt idx="1">
                  <c:v>Book</c:v>
                </c:pt>
                <c:pt idx="2">
                  <c:v>Laptop</c:v>
                </c:pt>
                <c:pt idx="3">
                  <c:v>Chair</c:v>
                </c:pt>
                <c:pt idx="4">
                  <c:v>Shoes</c:v>
                </c:pt>
                <c:pt idx="5">
                  <c:v>Rice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184</c:v>
                </c:pt>
                <c:pt idx="1">
                  <c:v>178</c:v>
                </c:pt>
                <c:pt idx="2">
                  <c:v>170</c:v>
                </c:pt>
                <c:pt idx="3">
                  <c:v>159</c:v>
                </c:pt>
                <c:pt idx="4">
                  <c:v>156</c:v>
                </c:pt>
                <c:pt idx="5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2A-4576-B7B3-EEBEB32E29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7.1199999999999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928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TASK 2 — SALES ANALYTICS DASHBOARD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Business Intelligence</a:t>
            </a:r>
            <a:endParaRPr lang="en-US" sz="1400" dirty="0"/>
          </a:p>
        </p:txBody>
      </p:sp>
      <p:sp>
        <p:nvSpPr>
          <p:cNvPr id="4" name="Header tag"/>
          <p:cNvSpPr txBox="1"/>
          <p:nvPr/>
        </p:nvSpPr>
        <p:spPr>
          <a:xfrm>
            <a:off x="8046720" y="292608"/>
            <a:ext cx="3685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60-Day Data Analytics Internship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sales dataset · 1,000 records</a:t>
            </a:r>
            <a:endParaRPr lang="en-US" sz="1100" dirty="0"/>
          </a:p>
        </p:txBody>
      </p:sp>
      <p:sp>
        <p:nvSpPr>
          <p:cNvPr id="5" name="KPI card 1"/>
          <p:cNvSpPr/>
          <p:nvPr/>
        </p:nvSpPr>
        <p:spPr>
          <a:xfrm>
            <a:off x="457200" y="1115568"/>
            <a:ext cx="26821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2316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80744"/>
            <a:ext cx="2316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164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₹139,399,439.65</a:t>
            </a:r>
            <a:endParaRPr lang="en-US" sz="950" dirty="0"/>
          </a:p>
        </p:txBody>
      </p:sp>
      <p:sp>
        <p:nvSpPr>
          <p:cNvPr id="9" name="KPI card 2"/>
          <p:cNvSpPr/>
          <p:nvPr/>
        </p:nvSpPr>
        <p:spPr>
          <a:xfrm>
            <a:off x="3322244" y="1115568"/>
            <a:ext cx="26821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05124" y="1207008"/>
            <a:ext cx="2316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05124" y="1380744"/>
            <a:ext cx="2316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05124" y="1737360"/>
            <a:ext cx="23164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 in dataset</a:t>
            </a:r>
            <a:endParaRPr lang="en-US" sz="950" dirty="0"/>
          </a:p>
        </p:txBody>
      </p:sp>
      <p:sp>
        <p:nvSpPr>
          <p:cNvPr id="13" name="KPI card 3"/>
          <p:cNvSpPr/>
          <p:nvPr/>
        </p:nvSpPr>
        <p:spPr>
          <a:xfrm>
            <a:off x="6187288" y="1115568"/>
            <a:ext cx="26821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70168" y="1207008"/>
            <a:ext cx="2316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/ ORDER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70168" y="1380744"/>
            <a:ext cx="2316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₹139.40K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70168" y="1737360"/>
            <a:ext cx="23164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₹139,399.44</a:t>
            </a:r>
            <a:endParaRPr lang="en-US" sz="950" dirty="0"/>
          </a:p>
        </p:txBody>
      </p:sp>
      <p:sp>
        <p:nvSpPr>
          <p:cNvPr id="17" name="KPI card 4"/>
          <p:cNvSpPr/>
          <p:nvPr/>
        </p:nvSpPr>
        <p:spPr>
          <a:xfrm>
            <a:off x="9052331" y="1115568"/>
            <a:ext cx="26821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35211" y="1207008"/>
            <a:ext cx="2316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QUANTITY / ORDER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235211" y="1380744"/>
            <a:ext cx="2316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737360"/>
            <a:ext cx="23164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order</a:t>
            </a:r>
            <a:endParaRPr lang="en-US" sz="950" dirty="0"/>
          </a:p>
        </p:txBody>
      </p:sp>
      <p:sp>
        <p:nvSpPr>
          <p:cNvPr id="21" name="Category sales chart card"/>
          <p:cNvSpPr/>
          <p:nvPr/>
        </p:nvSpPr>
        <p:spPr>
          <a:xfrm>
            <a:off x="457200" y="2121408"/>
            <a:ext cx="363717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2212848"/>
            <a:ext cx="327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Total Sales (₹)</a:t>
            </a:r>
            <a:endParaRPr lang="en-US" sz="1200" dirty="0"/>
          </a:p>
        </p:txBody>
      </p:sp>
      <p:graphicFrame>
        <p:nvGraphicFramePr>
          <p:cNvPr id="23" name="Category sales chart"/>
          <p:cNvGraphicFramePr/>
          <p:nvPr/>
        </p:nvGraphicFramePr>
        <p:xfrm>
          <a:off x="548640" y="2487168"/>
          <a:ext cx="3454298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City orders chart card"/>
          <p:cNvSpPr/>
          <p:nvPr/>
        </p:nvSpPr>
        <p:spPr>
          <a:xfrm>
            <a:off x="4277258" y="2121408"/>
            <a:ext cx="363717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460138" y="2212848"/>
            <a:ext cx="327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Order Count</a:t>
            </a:r>
            <a:endParaRPr lang="en-US" sz="1200" dirty="0"/>
          </a:p>
        </p:txBody>
      </p:sp>
      <p:graphicFrame>
        <p:nvGraphicFramePr>
          <p:cNvPr id="26" name="City orders chart"/>
          <p:cNvGraphicFramePr/>
          <p:nvPr/>
        </p:nvGraphicFramePr>
        <p:xfrm>
          <a:off x="4368698" y="2487168"/>
          <a:ext cx="3454298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Product orders chart card"/>
          <p:cNvSpPr/>
          <p:nvPr/>
        </p:nvSpPr>
        <p:spPr>
          <a:xfrm>
            <a:off x="8097317" y="2121408"/>
            <a:ext cx="363717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280197" y="2212848"/>
            <a:ext cx="327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Order Count</a:t>
            </a:r>
            <a:endParaRPr lang="en-US" sz="1200" dirty="0"/>
          </a:p>
        </p:txBody>
      </p:sp>
      <p:graphicFrame>
        <p:nvGraphicFramePr>
          <p:cNvPr id="29" name="Product orders chart"/>
          <p:cNvGraphicFramePr/>
          <p:nvPr/>
        </p:nvGraphicFramePr>
        <p:xfrm>
          <a:off x="8188757" y="2487168"/>
          <a:ext cx="3454298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Correlation card"/>
          <p:cNvSpPr/>
          <p:nvPr/>
        </p:nvSpPr>
        <p:spPr>
          <a:xfrm>
            <a:off x="457200" y="4480560"/>
            <a:ext cx="6035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pic>
        <p:nvPicPr>
          <p:cNvPr id="31" name="Correlation heatmap" descr="Correlation heatmap of Age, Quantity, Unit Price and Total Sa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590288"/>
            <a:ext cx="2117142" cy="179222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912670" y="4553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2912670" y="4864608"/>
            <a:ext cx="266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vs Total Sales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2912670" y="5084064"/>
            <a:ext cx="26651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577840" y="48646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200" dirty="0"/>
          </a:p>
        </p:txBody>
      </p:sp>
      <p:sp>
        <p:nvSpPr>
          <p:cNvPr id="36" name="Text 30"/>
          <p:cNvSpPr txBox="1"/>
          <p:nvPr/>
        </p:nvSpPr>
        <p:spPr>
          <a:xfrm>
            <a:off x="2912670" y="5340096"/>
            <a:ext cx="266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vs Total Sales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2912670" y="5559552"/>
            <a:ext cx="26651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5577840" y="534009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2200" dirty="0"/>
          </a:p>
        </p:txBody>
      </p:sp>
      <p:sp>
        <p:nvSpPr>
          <p:cNvPr id="39" name="Text 33"/>
          <p:cNvSpPr txBox="1"/>
          <p:nvPr/>
        </p:nvSpPr>
        <p:spPr>
          <a:xfrm>
            <a:off x="2912670" y="5815584"/>
            <a:ext cx="266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Total Sales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2912670" y="6035040"/>
            <a:ext cx="26651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linear correlation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577840" y="581558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2200" dirty="0"/>
          </a:p>
        </p:txBody>
      </p:sp>
      <p:sp>
        <p:nvSpPr>
          <p:cNvPr id="42" name="Text 36"/>
          <p:cNvSpPr txBox="1"/>
          <p:nvPr/>
        </p:nvSpPr>
        <p:spPr>
          <a:xfrm>
            <a:off x="2912670" y="6263640"/>
            <a:ext cx="3396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describes association, not causation.</a:t>
            </a:r>
            <a:endParaRPr lang="en-US" sz="900" dirty="0"/>
          </a:p>
        </p:txBody>
      </p:sp>
      <p:sp>
        <p:nvSpPr>
          <p:cNvPr id="43" name="Insights card"/>
          <p:cNvSpPr/>
          <p:nvPr/>
        </p:nvSpPr>
        <p:spPr>
          <a:xfrm>
            <a:off x="6675120" y="4480560"/>
            <a:ext cx="5059375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1905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44" name="Text 38"/>
          <p:cNvSpPr txBox="1"/>
          <p:nvPr/>
        </p:nvSpPr>
        <p:spPr>
          <a:xfrm>
            <a:off x="6858000" y="4553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200" dirty="0"/>
          </a:p>
        </p:txBody>
      </p:sp>
      <p:sp>
        <p:nvSpPr>
          <p:cNvPr id="45" name="Insights text"/>
          <p:cNvSpPr txBox="1"/>
          <p:nvPr/>
        </p:nvSpPr>
        <p:spPr>
          <a:xfrm>
            <a:off x="6858000" y="4864608"/>
            <a:ext cx="46936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frequently ordered product (184 orders).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largest category by order count (354 orders).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highest number of orders (135 orders).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split: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511 orders, Female 489 orders.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Averages: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₹139,399.44 sales and 5.43 units per order.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Unit Price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a positive relationship with Total Sales; Age shows almost no linear relationship.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457200" y="65379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ApexPlanet_Cleaned_Dataset.xlsx (1,000 records) and Task 2 EDA / SQL analysis outputs.  “Unknown” city = records with no city value.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exPlanet BI">
  <a:themeElements>
    <a:clrScheme name="ApexPlanet BI">
      <a:dk1>
        <a:srgbClr val="1B2430"/>
      </a:dk1>
      <a:lt1>
        <a:srgbClr val="FFFFFF"/>
      </a:lt1>
      <a:dk2>
        <a:srgbClr val="14304F"/>
      </a:dk2>
      <a:lt2>
        <a:srgbClr val="F2F4F7"/>
      </a:lt2>
      <a:accent1>
        <a:srgbClr val="14304F"/>
      </a:accent1>
      <a:accent2>
        <a:srgbClr val="0E7C86"/>
      </a:accent2>
      <a:accent3>
        <a:srgbClr val="5B7083"/>
      </a:accent3>
      <a:accent4>
        <a:srgbClr val="8FA3B5"/>
      </a:accent4>
      <a:accent5>
        <a:srgbClr val="C9D3DD"/>
      </a:accent5>
      <a:accent6>
        <a:srgbClr val="D98E04"/>
      </a:accent6>
      <a:hlink>
        <a:srgbClr val="0E7C86"/>
      </a:hlink>
      <a:folHlink>
        <a:srgbClr val="5B7083"/>
      </a:folHlink>
    </a:clrScheme>
    <a:fontScheme name="ApexPlanet B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ApexPlanet BI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Task 2 — Sales Analytics Dashboard</dc:title>
  <dc:subject>PptxGenJS Presentation</dc:subject>
  <dc:creator>ApexPlanet Data Analytics Internship</dc:creator>
  <cp:lastModifiedBy>Suman Guin</cp:lastModifiedBy>
  <cp:revision>2</cp:revision>
  <dcterms:created xsi:type="dcterms:W3CDTF">2026-10-02T01:40:06Z</dcterms:created>
  <dcterms:modified xsi:type="dcterms:W3CDTF">2026-10-02T01:44:24Z</dcterms:modified>
</cp:coreProperties>
</file>